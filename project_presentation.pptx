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61" r:id="rId4"/>
    <p:sldId id="262" r:id="rId5"/>
    <p:sldId id="263" r:id="rId6"/>
    <p:sldId id="264" r:id="rId7"/>
    <p:sldId id="266" r:id="rId8"/>
    <p:sldId id="265" r:id="rId9"/>
    <p:sldId id="267" r:id="rId10"/>
    <p:sldId id="268" r:id="rId11"/>
    <p:sldId id="259" r:id="rId12"/>
    <p:sldId id="26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C53"/>
    <a:srgbClr val="451D08"/>
    <a:srgbClr val="6E2F0D"/>
    <a:srgbClr val="572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E3439-229C-E1A9-FC52-F647E0B48E38}" v="47" dt="2026-10-26T17:47:18.617"/>
    <p1510:client id="{2A207F65-718F-1A61-7520-D03126D69600}" v="33" dt="2026-10-27T13:59:08.136"/>
    <p1510:client id="{393B5473-F6D6-7B39-9112-BB316C1750A6}" v="52" dt="2026-10-27T14:51:56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E7CD1-BB82-4A33-80CC-AC765A6873D5}" type="datetimeFigureOut"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AD733-1E14-4C90-AFE1-2EFAD68261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5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Unsu</a:t>
            </a:r>
            <a:r>
              <a:rPr lang="en-US" dirty="0">
                <a:ea typeface="Calibri"/>
                <a:cs typeface="Calibri"/>
              </a:rPr>
              <a:t>re if I'm </a:t>
            </a:r>
            <a:r>
              <a:rPr lang="en-US">
                <a:ea typeface="Calibri"/>
                <a:cs typeface="Calibri"/>
              </a:rPr>
              <a:t>over-relying</a:t>
            </a:r>
            <a:r>
              <a:rPr lang="en-US" dirty="0">
                <a:ea typeface="Calibri"/>
                <a:cs typeface="Calibri"/>
              </a:rPr>
              <a:t> on specialist language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AD733-1E14-4C90-AFE1-2EFAD68261B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55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7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5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42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25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48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4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7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7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83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Nova"/>
                <a:ea typeface="Calibri"/>
                <a:cs typeface="Times New Roman"/>
              </a:rPr>
              <a:t>Encoder/Decoder using </a:t>
            </a:r>
            <a:r>
              <a:rPr lang="en-US">
                <a:latin typeface="Arial Nova"/>
                <a:ea typeface="Calibri"/>
                <a:cs typeface="Times New Roman"/>
              </a:rPr>
              <a:t>Arithmetic Coding</a:t>
            </a:r>
            <a:endParaRPr lang="en-US" dirty="0">
              <a:latin typeface="Arial Nova"/>
              <a:ea typeface="Calibri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 Nova"/>
                <a:ea typeface="Calibri"/>
                <a:cs typeface="Times New Roman"/>
              </a:rPr>
              <a:t>T. Croft, W. Finney, B. Jones, D. Kwiecien, M. Reed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279B-20C4-6941-5484-1D5ED966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</a:rPr>
              <a:t>The problem: File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FB79F-A6C7-3AC4-6239-45554A9BB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 Nova"/>
              </a:rPr>
              <a:t>Files can take up too much storage and </a:t>
            </a:r>
            <a:r>
              <a:rPr lang="en-US">
                <a:latin typeface="Arial Nova"/>
              </a:rPr>
              <a:t>bandwidth.</a:t>
            </a:r>
          </a:p>
          <a:p>
            <a:r>
              <a:rPr lang="en-US">
                <a:latin typeface="Arial Nova"/>
              </a:rPr>
              <a:t>Particularly in the case of JSON and XML</a:t>
            </a:r>
            <a:endParaRPr lang="en-US" dirty="0">
              <a:latin typeface="Arial Nova"/>
            </a:endParaRPr>
          </a:p>
          <a:p>
            <a:r>
              <a:rPr lang="en-US" dirty="0">
                <a:latin typeface="Arial Nova"/>
              </a:rPr>
              <a:t>Traditional approaches cannot achieve compression close to the source's entropy, and are space-inefficient.</a:t>
            </a:r>
          </a:p>
          <a:p>
            <a:r>
              <a:rPr lang="en-US">
                <a:latin typeface="Arial Nova"/>
              </a:rPr>
              <a:t>Our Encoder/Decoder algorithm addresses this using Arithmetic Coding.</a:t>
            </a: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97866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C4D4E8B-819A-A551-4241-46DA1AF0D801}"/>
              </a:ext>
            </a:extLst>
          </p:cNvPr>
          <p:cNvSpPr/>
          <p:nvPr/>
        </p:nvSpPr>
        <p:spPr>
          <a:xfrm>
            <a:off x="979473" y="4073981"/>
            <a:ext cx="8333" cy="369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latin typeface="Arial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87162-86C1-6952-227D-76039EB8180A}"/>
              </a:ext>
            </a:extLst>
          </p:cNvPr>
          <p:cNvSpPr txBox="1"/>
          <p:nvPr/>
        </p:nvSpPr>
        <p:spPr>
          <a:xfrm>
            <a:off x="149604" y="272008"/>
            <a:ext cx="57704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Symbols are assigned portions of a narrowing interval based on probability, starting as [0, 1).</a:t>
            </a:r>
          </a:p>
          <a:p>
            <a:endParaRPr lang="en-US" dirty="0">
              <a:latin typeface="Arial Nova"/>
            </a:endParaRPr>
          </a:p>
          <a:p>
            <a:r>
              <a:rPr lang="en-US">
                <a:latin typeface="Arial Nova"/>
              </a:rPr>
              <a:t>Here, we encode the word "DAD".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14932-C9CB-DC3F-AB48-886E080D257E}"/>
              </a:ext>
            </a:extLst>
          </p:cNvPr>
          <p:cNvSpPr txBox="1"/>
          <p:nvPr/>
        </p:nvSpPr>
        <p:spPr>
          <a:xfrm>
            <a:off x="775222" y="4066517"/>
            <a:ext cx="598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A41EC-814C-C381-4755-1BF5FA784B74}"/>
              </a:ext>
            </a:extLst>
          </p:cNvPr>
          <p:cNvSpPr txBox="1"/>
          <p:nvPr/>
        </p:nvSpPr>
        <p:spPr>
          <a:xfrm>
            <a:off x="10573526" y="4086085"/>
            <a:ext cx="594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1.0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BA833-3EF8-F76F-330D-CBEE287B70F9}"/>
              </a:ext>
            </a:extLst>
          </p:cNvPr>
          <p:cNvSpPr/>
          <p:nvPr/>
        </p:nvSpPr>
        <p:spPr>
          <a:xfrm flipH="1">
            <a:off x="10852866" y="4073981"/>
            <a:ext cx="5161" cy="369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latin typeface="Arial Nova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11C9D5-D263-7FBF-B2C7-6ACD1462F620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364E6C-AC4A-C6FF-341C-FE2EC90730D9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[0, 1)</a:t>
            </a:r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3988346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9029-330C-4F34-A929-8DED93D6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E6C9C-C0E2-AADE-077A-8EB7FC52F80A}"/>
              </a:ext>
            </a:extLst>
          </p:cNvPr>
          <p:cNvSpPr/>
          <p:nvPr/>
        </p:nvSpPr>
        <p:spPr>
          <a:xfrm>
            <a:off x="991105" y="4073981"/>
            <a:ext cx="6138755" cy="369515"/>
          </a:xfrm>
          <a:prstGeom prst="rect">
            <a:avLst/>
          </a:prstGeom>
          <a:solidFill>
            <a:srgbClr val="ED7D3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93901-8745-1394-8A8E-9A73FA39C78A}"/>
              </a:ext>
            </a:extLst>
          </p:cNvPr>
          <p:cNvSpPr/>
          <p:nvPr/>
        </p:nvSpPr>
        <p:spPr>
          <a:xfrm flipH="1">
            <a:off x="7139628" y="4073981"/>
            <a:ext cx="3718399" cy="369515"/>
          </a:xfrm>
          <a:prstGeom prst="rect">
            <a:avLst/>
          </a:prstGeom>
          <a:solidFill>
            <a:srgbClr val="F58C53"/>
          </a:solidFill>
          <a:ln>
            <a:solidFill>
              <a:srgbClr val="F58C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A: 33.33%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9ACC8E-3CDE-48B1-AB10-DCE83F03C3D6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958F6D3-D6CA-84AF-B6E8-196C8FDBB642}"/>
              </a:ext>
            </a:extLst>
          </p:cNvPr>
          <p:cNvSpPr txBox="1"/>
          <p:nvPr/>
        </p:nvSpPr>
        <p:spPr>
          <a:xfrm>
            <a:off x="149604" y="272008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Divide by probability of letters appearing in "DAD"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59294-0C19-46F2-B714-23F9E03B3540}"/>
              </a:ext>
            </a:extLst>
          </p:cNvPr>
          <p:cNvSpPr txBox="1"/>
          <p:nvPr/>
        </p:nvSpPr>
        <p:spPr>
          <a:xfrm>
            <a:off x="775222" y="4066517"/>
            <a:ext cx="598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62789-6735-E9F0-0B9D-C2798BF2F571}"/>
              </a:ext>
            </a:extLst>
          </p:cNvPr>
          <p:cNvSpPr txBox="1"/>
          <p:nvPr/>
        </p:nvSpPr>
        <p:spPr>
          <a:xfrm>
            <a:off x="10573526" y="4086085"/>
            <a:ext cx="594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1.0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EACB9-E36D-7A98-462E-036F895CDC15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[0, 1)</a:t>
            </a:r>
            <a:endParaRPr lang="en-US" dirty="0">
              <a:latin typeface="Arial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512114-A128-654F-252C-55F033A32262}"/>
              </a:ext>
            </a:extLst>
          </p:cNvPr>
          <p:cNvSpPr txBox="1"/>
          <p:nvPr/>
        </p:nvSpPr>
        <p:spPr>
          <a:xfrm>
            <a:off x="6699624" y="4075012"/>
            <a:ext cx="8745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0.67</a:t>
            </a:r>
          </a:p>
        </p:txBody>
      </p:sp>
    </p:spTree>
    <p:extLst>
      <p:ext uri="{BB962C8B-B14F-4D97-AF65-F5344CB8AC3E}">
        <p14:creationId xmlns:p14="http://schemas.microsoft.com/office/powerpoint/2010/main" val="351204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E7B2-7912-CE66-70C1-EAF05138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C5C8F6-E3A9-5739-438A-1D41AEB784F2}"/>
              </a:ext>
            </a:extLst>
          </p:cNvPr>
          <p:cNvSpPr txBox="1"/>
          <p:nvPr/>
        </p:nvSpPr>
        <p:spPr>
          <a:xfrm>
            <a:off x="149604" y="272008"/>
            <a:ext cx="5575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We keep section D and discard the rest, narrowing the interval. We then continue to split until a small interval remains.</a:t>
            </a:r>
            <a:endParaRPr lang="en-US">
              <a:solidFill>
                <a:srgbClr val="000000"/>
              </a:solidFill>
              <a:latin typeface="Arial Nova"/>
            </a:endParaRPr>
          </a:p>
          <a:p>
            <a:endParaRPr lang="en-US" dirty="0">
              <a:latin typeface="Arial Nov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BCA920-79D4-4BB1-A691-CBBD45016F9D}"/>
              </a:ext>
            </a:extLst>
          </p:cNvPr>
          <p:cNvSpPr txBox="1"/>
          <p:nvPr/>
        </p:nvSpPr>
        <p:spPr>
          <a:xfrm>
            <a:off x="989757" y="4531392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[0, 0.67)</a:t>
            </a:r>
            <a:endParaRPr lang="en-US" dirty="0">
              <a:latin typeface="Arial Nov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945B3-B3A4-9007-15B5-2A58CA1CCD52}"/>
              </a:ext>
            </a:extLst>
          </p:cNvPr>
          <p:cNvSpPr/>
          <p:nvPr/>
        </p:nvSpPr>
        <p:spPr>
          <a:xfrm>
            <a:off x="991105" y="4064212"/>
            <a:ext cx="9851061" cy="36951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692C1A-A7A8-B20E-5A0A-CB5C7ED5DABC}"/>
              </a:ext>
            </a:extLst>
          </p:cNvPr>
          <p:cNvSpPr txBox="1"/>
          <p:nvPr/>
        </p:nvSpPr>
        <p:spPr>
          <a:xfrm>
            <a:off x="775222" y="4066517"/>
            <a:ext cx="598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9A5A61-CA45-8186-4B28-35953283125F}"/>
              </a:ext>
            </a:extLst>
          </p:cNvPr>
          <p:cNvSpPr txBox="1"/>
          <p:nvPr/>
        </p:nvSpPr>
        <p:spPr>
          <a:xfrm>
            <a:off x="10497497" y="4066546"/>
            <a:ext cx="8148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0.67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4F535E-5537-643A-39EE-A711589C88E2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988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41B0-02C0-3CD7-2402-EF21FD97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D47261D-347E-48A0-9553-B3C509C56C1C}"/>
              </a:ext>
            </a:extLst>
          </p:cNvPr>
          <p:cNvSpPr/>
          <p:nvPr/>
        </p:nvSpPr>
        <p:spPr>
          <a:xfrm flipH="1">
            <a:off x="7149397" y="4064212"/>
            <a:ext cx="3718399" cy="3695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A: 33.33%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148090-9A05-6263-0422-574192B8F1DF}"/>
              </a:ext>
            </a:extLst>
          </p:cNvPr>
          <p:cNvSpPr/>
          <p:nvPr/>
        </p:nvSpPr>
        <p:spPr>
          <a:xfrm>
            <a:off x="981336" y="4064212"/>
            <a:ext cx="6148523" cy="3695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BA6E5D-3687-AF03-463E-5FCFAB9C54C9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E5F618-0DED-0A27-E77A-377283FB72CA}"/>
              </a:ext>
            </a:extLst>
          </p:cNvPr>
          <p:cNvSpPr txBox="1"/>
          <p:nvPr/>
        </p:nvSpPr>
        <p:spPr>
          <a:xfrm>
            <a:off x="775222" y="4066517"/>
            <a:ext cx="598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1262D-E083-F6EB-6063-FAD391915FC2}"/>
              </a:ext>
            </a:extLst>
          </p:cNvPr>
          <p:cNvSpPr txBox="1"/>
          <p:nvPr/>
        </p:nvSpPr>
        <p:spPr>
          <a:xfrm>
            <a:off x="10563757" y="4066546"/>
            <a:ext cx="660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A58AA-6876-CB33-1D48-E65FF4EFACE7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[0, 0.67)</a:t>
            </a:r>
            <a:endParaRPr lang="en-US" dirty="0">
              <a:latin typeface="Arial Nov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AEF427-7AAB-7BA3-B114-F3AB19A5C911}"/>
              </a:ext>
            </a:extLst>
          </p:cNvPr>
          <p:cNvSpPr txBox="1"/>
          <p:nvPr/>
        </p:nvSpPr>
        <p:spPr>
          <a:xfrm>
            <a:off x="6793068" y="4066517"/>
            <a:ext cx="676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ABB1C-110D-7736-10D0-F3177993A82B}"/>
              </a:ext>
            </a:extLst>
          </p:cNvPr>
          <p:cNvSpPr txBox="1"/>
          <p:nvPr/>
        </p:nvSpPr>
        <p:spPr>
          <a:xfrm>
            <a:off x="149604" y="272008"/>
            <a:ext cx="5575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We keep section D and discard the rest, narrowing the interval. We then continue to split until a small interval remains.</a:t>
            </a:r>
            <a:endParaRPr lang="en-US">
              <a:solidFill>
                <a:srgbClr val="000000"/>
              </a:solidFill>
              <a:latin typeface="Arial Nova"/>
            </a:endParaRP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339700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13D3-C7A4-6411-DEEA-CBFBC359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6D2355-081C-CDAF-FE36-221166013432}"/>
              </a:ext>
            </a:extLst>
          </p:cNvPr>
          <p:cNvSpPr/>
          <p:nvPr/>
        </p:nvSpPr>
        <p:spPr>
          <a:xfrm flipH="1">
            <a:off x="1014321" y="4064212"/>
            <a:ext cx="9853475" cy="3695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A: 33.33%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7C900F-B019-16E3-12E5-553E1989B543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68A1452-7482-2B0F-992C-E6A2CB7C84B3}"/>
              </a:ext>
            </a:extLst>
          </p:cNvPr>
          <p:cNvSpPr txBox="1"/>
          <p:nvPr/>
        </p:nvSpPr>
        <p:spPr>
          <a:xfrm>
            <a:off x="10497497" y="4077589"/>
            <a:ext cx="660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6B3BB-FA4C-ED5F-E4F0-8E2A0ED8F36E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[0.44, 0.67)</a:t>
            </a:r>
            <a:endParaRPr lang="en-US" dirty="0">
              <a:latin typeface="Arial Nov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62C22-9AA3-1FBF-7204-36A7944A8DB9}"/>
              </a:ext>
            </a:extLst>
          </p:cNvPr>
          <p:cNvSpPr txBox="1"/>
          <p:nvPr/>
        </p:nvSpPr>
        <p:spPr>
          <a:xfrm>
            <a:off x="638453" y="4076286"/>
            <a:ext cx="676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1777B-04E2-4E12-8FD4-98A8E8365427}"/>
              </a:ext>
            </a:extLst>
          </p:cNvPr>
          <p:cNvSpPr txBox="1"/>
          <p:nvPr/>
        </p:nvSpPr>
        <p:spPr>
          <a:xfrm>
            <a:off x="149604" y="272008"/>
            <a:ext cx="5575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We keep section D and discard the rest, narrowing the interval. We then continue to split until a small interval remains.</a:t>
            </a:r>
            <a:endParaRPr lang="en-US">
              <a:solidFill>
                <a:srgbClr val="000000"/>
              </a:solidFill>
              <a:latin typeface="Arial Nova"/>
            </a:endParaRP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414150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9878-49D7-22D3-059E-EB32D6E8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486DCB-1AC5-2EEA-2356-D8D724F1014B}"/>
              </a:ext>
            </a:extLst>
          </p:cNvPr>
          <p:cNvSpPr/>
          <p:nvPr/>
        </p:nvSpPr>
        <p:spPr>
          <a:xfrm flipH="1">
            <a:off x="7149397" y="4064212"/>
            <a:ext cx="3718399" cy="369515"/>
          </a:xfrm>
          <a:prstGeom prst="rect">
            <a:avLst/>
          </a:prstGeom>
          <a:solidFill>
            <a:srgbClr val="451D08"/>
          </a:solidFill>
          <a:ln>
            <a:solidFill>
              <a:srgbClr val="451D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A: 33.3%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0BB5E8-DF06-48CE-6C3D-9DA1A65481A1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1AFB9B-FE1F-15D2-43B2-F09CBB91F914}"/>
              </a:ext>
            </a:extLst>
          </p:cNvPr>
          <p:cNvSpPr txBox="1"/>
          <p:nvPr/>
        </p:nvSpPr>
        <p:spPr>
          <a:xfrm>
            <a:off x="10541671" y="4066546"/>
            <a:ext cx="660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66C22-3322-0F66-089C-B160116712AC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[0.44, 0.67)</a:t>
            </a:r>
            <a:endParaRPr lang="en-US" dirty="0">
              <a:latin typeface="Arial Nov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07E201-1030-B820-3EFF-65971F2986CD}"/>
              </a:ext>
            </a:extLst>
          </p:cNvPr>
          <p:cNvSpPr/>
          <p:nvPr/>
        </p:nvSpPr>
        <p:spPr>
          <a:xfrm>
            <a:off x="981336" y="4064212"/>
            <a:ext cx="6148523" cy="369515"/>
          </a:xfrm>
          <a:prstGeom prst="rect">
            <a:avLst/>
          </a:prstGeom>
          <a:solidFill>
            <a:srgbClr val="6E2F0D"/>
          </a:solidFill>
          <a:ln>
            <a:solidFill>
              <a:srgbClr val="6E2F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A2055-0440-4C87-88A9-44D649D6067D}"/>
              </a:ext>
            </a:extLst>
          </p:cNvPr>
          <p:cNvSpPr txBox="1"/>
          <p:nvPr/>
        </p:nvSpPr>
        <p:spPr>
          <a:xfrm>
            <a:off x="638453" y="4066517"/>
            <a:ext cx="676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990E57-63C4-A6FD-B0F7-A8D5F3BEF966}"/>
              </a:ext>
            </a:extLst>
          </p:cNvPr>
          <p:cNvSpPr txBox="1"/>
          <p:nvPr/>
        </p:nvSpPr>
        <p:spPr>
          <a:xfrm>
            <a:off x="6724684" y="4066517"/>
            <a:ext cx="744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08D4C-E54A-7D77-BF6D-8C1AC27A30E8}"/>
              </a:ext>
            </a:extLst>
          </p:cNvPr>
          <p:cNvSpPr txBox="1"/>
          <p:nvPr/>
        </p:nvSpPr>
        <p:spPr>
          <a:xfrm>
            <a:off x="149604" y="272008"/>
            <a:ext cx="5575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We keep section D and discard the rest, narrowing the interval. We then continue to split until a small interval remains.</a:t>
            </a:r>
            <a:endParaRPr lang="en-US">
              <a:solidFill>
                <a:srgbClr val="000000"/>
              </a:solidFill>
              <a:latin typeface="Arial Nova"/>
            </a:endParaRP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326766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23D9-2F24-8D13-A233-012F5DEE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EF4958-79AF-4322-E907-3CB37335F23E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5770ED-B4FF-B504-8AF4-93C94A75843C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[0.44, 0.59)</a:t>
            </a:r>
            <a:endParaRPr lang="en-US" dirty="0">
              <a:latin typeface="Arial Nov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B0A275-7B88-DC02-73AD-B6E6BB6FED3B}"/>
              </a:ext>
            </a:extLst>
          </p:cNvPr>
          <p:cNvSpPr/>
          <p:nvPr/>
        </p:nvSpPr>
        <p:spPr>
          <a:xfrm>
            <a:off x="981336" y="4064212"/>
            <a:ext cx="9860830" cy="379284"/>
          </a:xfrm>
          <a:prstGeom prst="rect">
            <a:avLst/>
          </a:prstGeom>
          <a:solidFill>
            <a:srgbClr val="6E2F0D"/>
          </a:solidFill>
          <a:ln>
            <a:solidFill>
              <a:srgbClr val="6E2F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1548-DA0A-F047-E59E-F760DFB05303}"/>
              </a:ext>
            </a:extLst>
          </p:cNvPr>
          <p:cNvSpPr txBox="1"/>
          <p:nvPr/>
        </p:nvSpPr>
        <p:spPr>
          <a:xfrm>
            <a:off x="638453" y="4066517"/>
            <a:ext cx="676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178B82-ADEF-4393-383A-01E71278A68B}"/>
              </a:ext>
            </a:extLst>
          </p:cNvPr>
          <p:cNvSpPr txBox="1"/>
          <p:nvPr/>
        </p:nvSpPr>
        <p:spPr>
          <a:xfrm>
            <a:off x="10500704" y="4066517"/>
            <a:ext cx="744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C4299-706B-0F71-4C13-A79E17FFFDF3}"/>
              </a:ext>
            </a:extLst>
          </p:cNvPr>
          <p:cNvSpPr txBox="1"/>
          <p:nvPr/>
        </p:nvSpPr>
        <p:spPr>
          <a:xfrm>
            <a:off x="149604" y="272008"/>
            <a:ext cx="5575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We keep section D and discard the rest, narrowing the interval. We then continue to split until a small interval remains.</a:t>
            </a:r>
            <a:endParaRPr lang="en-US">
              <a:solidFill>
                <a:srgbClr val="000000"/>
              </a:solidFill>
              <a:latin typeface="Arial Nova"/>
            </a:endParaRP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264313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5D21-7405-62ED-0465-A2FF9D3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EC4199-E680-CB68-5AFC-742C9B10B94B}"/>
              </a:ext>
            </a:extLst>
          </p:cNvPr>
          <p:cNvCxnSpPr/>
          <p:nvPr/>
        </p:nvCxnSpPr>
        <p:spPr>
          <a:xfrm>
            <a:off x="982250" y="4442794"/>
            <a:ext cx="9882952" cy="1511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E4CD54-50BF-C48C-58AA-5C4195BF7652}"/>
              </a:ext>
            </a:extLst>
          </p:cNvPr>
          <p:cNvSpPr txBox="1"/>
          <p:nvPr/>
        </p:nvSpPr>
        <p:spPr>
          <a:xfrm>
            <a:off x="149604" y="272008"/>
            <a:ext cx="55755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Messages are encoded using a number inside the final interval.</a:t>
            </a:r>
          </a:p>
          <a:p>
            <a:endParaRPr lang="en-US" dirty="0">
              <a:latin typeface="Arial Nov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69FDA-1A00-186B-D944-D45CDBF0F564}"/>
              </a:ext>
            </a:extLst>
          </p:cNvPr>
          <p:cNvSpPr txBox="1"/>
          <p:nvPr/>
        </p:nvSpPr>
        <p:spPr>
          <a:xfrm>
            <a:off x="979988" y="4502084"/>
            <a:ext cx="5575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Interval: [0.44, 0.59)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C13B3D-32F6-B55C-AC64-F3BDF9E44A7C}"/>
              </a:ext>
            </a:extLst>
          </p:cNvPr>
          <p:cNvSpPr/>
          <p:nvPr/>
        </p:nvSpPr>
        <p:spPr>
          <a:xfrm>
            <a:off x="981336" y="4064212"/>
            <a:ext cx="9860830" cy="379284"/>
          </a:xfrm>
          <a:prstGeom prst="rect">
            <a:avLst/>
          </a:prstGeom>
          <a:solidFill>
            <a:srgbClr val="6E2F0D"/>
          </a:solidFill>
          <a:ln>
            <a:solidFill>
              <a:srgbClr val="6E2F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rial Nova"/>
              </a:rPr>
              <a:t>D: 66.67%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0400F-DBCE-6C13-8D92-F6ECF7DA8AD2}"/>
              </a:ext>
            </a:extLst>
          </p:cNvPr>
          <p:cNvSpPr txBox="1"/>
          <p:nvPr/>
        </p:nvSpPr>
        <p:spPr>
          <a:xfrm>
            <a:off x="638453" y="4066517"/>
            <a:ext cx="676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D1D87-FD6A-84F6-ADB1-F15E095A8458}"/>
              </a:ext>
            </a:extLst>
          </p:cNvPr>
          <p:cNvSpPr txBox="1"/>
          <p:nvPr/>
        </p:nvSpPr>
        <p:spPr>
          <a:xfrm>
            <a:off x="10456530" y="4066517"/>
            <a:ext cx="7449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 Nova"/>
              </a:rPr>
              <a:t>0.59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3CC75-9F34-365E-D39F-12FC34F5C768}"/>
              </a:ext>
            </a:extLst>
          </p:cNvPr>
          <p:cNvSpPr txBox="1"/>
          <p:nvPr/>
        </p:nvSpPr>
        <p:spPr>
          <a:xfrm>
            <a:off x="5012890" y="2857288"/>
            <a:ext cx="1835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 Nova"/>
                <a:cs typeface="Arial"/>
              </a:rPr>
              <a:t>0.5  =</a:t>
            </a:r>
            <a:r>
              <a:rPr lang="en-US" sz="2800">
                <a:latin typeface="Arial Nova"/>
                <a:cs typeface="Arial"/>
              </a:rPr>
              <a:t> 0.1</a:t>
            </a:r>
            <a:endParaRPr lang="en-US" sz="2800" dirty="0">
              <a:latin typeface="Arial Nov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EA992-8D2E-5076-412A-561F392E8042}"/>
              </a:ext>
            </a:extLst>
          </p:cNvPr>
          <p:cNvSpPr txBox="1"/>
          <p:nvPr/>
        </p:nvSpPr>
        <p:spPr>
          <a:xfrm>
            <a:off x="5532782" y="3116384"/>
            <a:ext cx="33508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Arial Nova"/>
                <a:cs typeface="Arial"/>
              </a:rPr>
              <a:t>10               2</a:t>
            </a:r>
            <a:endParaRPr lang="en-US" sz="1400">
              <a:latin typeface="Arial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B33929-793D-2F14-06A0-75B1F2C5A2E9}"/>
              </a:ext>
            </a:extLst>
          </p:cNvPr>
          <p:cNvSpPr txBox="1"/>
          <p:nvPr/>
        </p:nvSpPr>
        <p:spPr>
          <a:xfrm>
            <a:off x="4420703" y="4862953"/>
            <a:ext cx="29937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 Nova"/>
              </a:rPr>
              <a:t>DAD can be encoded as 1</a:t>
            </a:r>
          </a:p>
        </p:txBody>
      </p:sp>
    </p:spTree>
    <p:extLst>
      <p:ext uri="{BB962C8B-B14F-4D97-AF65-F5344CB8AC3E}">
        <p14:creationId xmlns:p14="http://schemas.microsoft.com/office/powerpoint/2010/main" val="351380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110A-A638-EF29-0913-78B58563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</a:rPr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4871-37B0-C1E8-D1EB-3E357FC9F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294171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9514-D49B-6103-A7BF-3598ACA2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96CB-F9B7-384F-3483-08C10816F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 Nova"/>
              </a:rPr>
              <a:t>O(n) time comple</a:t>
            </a:r>
            <a:r>
              <a:rPr lang="en-US">
                <a:latin typeface="Arial Nova"/>
              </a:rPr>
              <a:t>xity and O(1) space complexity.</a:t>
            </a:r>
            <a:endParaRPr lang="en-US" dirty="0">
              <a:latin typeface="Arial Nova"/>
            </a:endParaRPr>
          </a:p>
          <a:p>
            <a:r>
              <a:rPr lang="en-US">
                <a:latin typeface="Arial Nova"/>
              </a:rPr>
              <a:t>Highly effective at encoding files with repeated pattens.</a:t>
            </a:r>
            <a:endParaRPr lang="en-US" dirty="0">
              <a:latin typeface="Arial Nova"/>
            </a:endParaRPr>
          </a:p>
          <a:p>
            <a:r>
              <a:rPr lang="en-US" dirty="0">
                <a:latin typeface="Arial Nova"/>
              </a:rPr>
              <a:t>More </a:t>
            </a:r>
            <a:r>
              <a:rPr lang="en-US">
                <a:latin typeface="Arial Nova"/>
              </a:rPr>
              <a:t>computationally complex than alternative compression algorithms.</a:t>
            </a:r>
            <a:endParaRPr lang="en-US" dirty="0">
              <a:latin typeface="Arial Nova"/>
            </a:endParaRPr>
          </a:p>
          <a:p>
            <a:r>
              <a:rPr lang="en-US" dirty="0">
                <a:latin typeface="Arial Nova"/>
              </a:rPr>
              <a:t>Valuable in </a:t>
            </a:r>
            <a:r>
              <a:rPr lang="en-US" err="1">
                <a:latin typeface="Arial Nova"/>
              </a:rPr>
              <a:t>maximising</a:t>
            </a:r>
            <a:r>
              <a:rPr lang="en-US">
                <a:latin typeface="Arial Nova"/>
              </a:rPr>
              <a:t> storage capacity for personal/business/scientific data storage.</a:t>
            </a:r>
          </a:p>
          <a:p>
            <a:endParaRPr lang="en-US" dirty="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65308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0368-51D2-B46F-0D42-D42E451B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67759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Encoder/Decoder using Arithmetic Coding</vt:lpstr>
      <vt:lpstr>The problem: File Compression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Demonstration</vt:lpstr>
      <vt:lpstr>Results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484</cp:revision>
  <dcterms:created xsi:type="dcterms:W3CDTF">2026-10-12T11:22:04Z</dcterms:created>
  <dcterms:modified xsi:type="dcterms:W3CDTF">2026-10-27T14:53:17Z</dcterms:modified>
</cp:coreProperties>
</file>